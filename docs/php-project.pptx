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7"/>
  </p:notesMasterIdLst>
  <p:sldIdLst>
    <p:sldId id="256" r:id="rId2"/>
    <p:sldId id="258" r:id="rId3"/>
    <p:sldId id="264" r:id="rId4"/>
    <p:sldId id="268" r:id="rId5"/>
    <p:sldId id="260" r:id="rId6"/>
    <p:sldId id="269" r:id="rId7"/>
    <p:sldId id="288" r:id="rId8"/>
    <p:sldId id="261" r:id="rId9"/>
    <p:sldId id="270" r:id="rId10"/>
    <p:sldId id="271" r:id="rId11"/>
    <p:sldId id="272" r:id="rId12"/>
    <p:sldId id="289" r:id="rId13"/>
    <p:sldId id="290" r:id="rId14"/>
    <p:sldId id="291" r:id="rId15"/>
    <p:sldId id="292" r:id="rId16"/>
    <p:sldId id="274" r:id="rId17"/>
    <p:sldId id="275" r:id="rId18"/>
    <p:sldId id="279" r:id="rId19"/>
    <p:sldId id="276" r:id="rId20"/>
    <p:sldId id="285" r:id="rId21"/>
    <p:sldId id="280" r:id="rId22"/>
    <p:sldId id="281" r:id="rId23"/>
    <p:sldId id="282" r:id="rId24"/>
    <p:sldId id="283"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015277E-FA99-43A4-AFD0-658836C306E7}">
          <p14:sldIdLst>
            <p14:sldId id="256"/>
            <p14:sldId id="258"/>
            <p14:sldId id="264"/>
            <p14:sldId id="268"/>
            <p14:sldId id="260"/>
            <p14:sldId id="269"/>
            <p14:sldId id="288"/>
            <p14:sldId id="261"/>
            <p14:sldId id="270"/>
            <p14:sldId id="271"/>
            <p14:sldId id="272"/>
            <p14:sldId id="289"/>
            <p14:sldId id="290"/>
            <p14:sldId id="291"/>
            <p14:sldId id="292"/>
            <p14:sldId id="274"/>
            <p14:sldId id="275"/>
            <p14:sldId id="279"/>
            <p14:sldId id="276"/>
            <p14:sldId id="285"/>
            <p14:sldId id="280"/>
            <p14:sldId id="281"/>
            <p14:sldId id="282"/>
            <p14:sldId id="283"/>
          </p14:sldIdLst>
        </p14:section>
        <p14:section name="Untitled Section" id="{86765C54-C40A-4330-A939-7B4EA3B0F5E6}">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374" autoAdjust="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BD9CE4-D53A-4874-B2C5-0DD0C9B42209}"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89FDC-00E8-45C6-854F-A162491FABE2}" type="slidenum">
              <a:rPr lang="en-IN" smtClean="0"/>
              <a:t>‹#›</a:t>
            </a:fld>
            <a:endParaRPr lang="en-IN"/>
          </a:p>
        </p:txBody>
      </p:sp>
    </p:spTree>
    <p:extLst>
      <p:ext uri="{BB962C8B-B14F-4D97-AF65-F5344CB8AC3E}">
        <p14:creationId xmlns:p14="http://schemas.microsoft.com/office/powerpoint/2010/main" val="884036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289FDC-00E8-45C6-854F-A162491FABE2}" type="slidenum">
              <a:rPr lang="en-IN" smtClean="0"/>
              <a:t>4</a:t>
            </a:fld>
            <a:endParaRPr lang="en-IN"/>
          </a:p>
        </p:txBody>
      </p:sp>
    </p:spTree>
    <p:extLst>
      <p:ext uri="{BB962C8B-B14F-4D97-AF65-F5344CB8AC3E}">
        <p14:creationId xmlns:p14="http://schemas.microsoft.com/office/powerpoint/2010/main" val="2563331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036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6328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5/1/2025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52958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2450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835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2513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9695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401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82675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81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B61BEF0D-F0BB-DE4B-95CE-6DB70DBA9567}" type="datetimeFigureOut">
              <a:rPr lang="en-US" smtClean="0"/>
              <a:pPr/>
              <a:t>5/1/2025</a:t>
            </a:fld>
            <a:endParaRPr lang="en-US" dirty="0"/>
          </a:p>
        </p:txBody>
      </p:sp>
      <p:sp>
        <p:nvSpPr>
          <p:cNvPr id="5" name="Footer Placeholder 4"/>
          <p:cNvSpPr>
            <a:spLocks noGrp="1"/>
          </p:cNvSpPr>
          <p:nvPr>
            <p:ph type="ftr" sz="quarter" idx="11"/>
          </p:nvPr>
        </p:nvSpPr>
        <p:spPr>
          <a:xfrm>
            <a:off x="3776135" y="6422854"/>
            <a:ext cx="4279669" cy="365125"/>
          </a:xfrm>
        </p:spPr>
        <p:txBody>
          <a:bodyPr/>
          <a:lstStyle/>
          <a:p>
            <a:endParaRPr lang="en-US" dirty="0"/>
          </a:p>
        </p:txBody>
      </p:sp>
      <p:sp>
        <p:nvSpPr>
          <p:cNvPr id="6" name="Slide Number Placeholder 5"/>
          <p:cNvSpPr>
            <a:spLocks noGrp="1"/>
          </p:cNvSpPr>
          <p:nvPr>
            <p:ph type="sldNum" sz="quarter" idx="12"/>
          </p:nvPr>
        </p:nvSpPr>
        <p:spPr>
          <a:xfrm>
            <a:off x="8073048" y="6422854"/>
            <a:ext cx="879759"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139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B61BEF0D-F0BB-DE4B-95CE-6DB70DBA9567}" type="datetimeFigureOut">
              <a:rPr lang="en-US" smtClean="0"/>
              <a:pPr/>
              <a:t>5/1/2025</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9789298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649C-CA63-A258-9210-8983306BE918}"/>
              </a:ext>
            </a:extLst>
          </p:cNvPr>
          <p:cNvSpPr>
            <a:spLocks noGrp="1"/>
          </p:cNvSpPr>
          <p:nvPr>
            <p:ph type="ctrTitle"/>
          </p:nvPr>
        </p:nvSpPr>
        <p:spPr/>
        <p:txBody>
          <a:bodyPr/>
          <a:lstStyle/>
          <a:p>
            <a:r>
              <a:rPr lang="en-IN" dirty="0"/>
              <a:t>Airline Reservation Management System </a:t>
            </a:r>
          </a:p>
        </p:txBody>
      </p:sp>
      <p:sp>
        <p:nvSpPr>
          <p:cNvPr id="3" name="Subtitle 2">
            <a:extLst>
              <a:ext uri="{FF2B5EF4-FFF2-40B4-BE49-F238E27FC236}">
                <a16:creationId xmlns:a16="http://schemas.microsoft.com/office/drawing/2014/main" id="{D8FCD25C-EEA0-049C-31BC-14C385627179}"/>
              </a:ext>
            </a:extLst>
          </p:cNvPr>
          <p:cNvSpPr>
            <a:spLocks noGrp="1"/>
          </p:cNvSpPr>
          <p:nvPr>
            <p:ph type="subTitle" idx="1"/>
          </p:nvPr>
        </p:nvSpPr>
        <p:spPr>
          <a:xfrm>
            <a:off x="581194" y="2495445"/>
            <a:ext cx="10993546" cy="3888578"/>
          </a:xfrm>
        </p:spPr>
        <p:txBody>
          <a:bodyPr>
            <a:normAutofit fontScale="70000" lnSpcReduction="20000"/>
          </a:bodyPr>
          <a:lstStyle/>
          <a:p>
            <a:r>
              <a:rPr lang="en-IN" dirty="0"/>
              <a:t>                                                                                                  																																																																																																																																																																																																																																																																	</a:t>
            </a:r>
            <a:r>
              <a:rPr lang="en-IN" dirty="0">
                <a:solidFill>
                  <a:schemeClr val="bg1">
                    <a:lumMod val="95000"/>
                  </a:schemeClr>
                </a:solidFill>
              </a:rPr>
              <a:t>	</a:t>
            </a:r>
            <a:r>
              <a:rPr lang="en-IN" sz="2100" dirty="0">
                <a:solidFill>
                  <a:schemeClr val="bg1">
                    <a:lumMod val="95000"/>
                  </a:schemeClr>
                </a:solidFill>
              </a:rPr>
              <a:t>developed by :-								</a:t>
            </a:r>
          </a:p>
        </p:txBody>
      </p:sp>
    </p:spTree>
    <p:extLst>
      <p:ext uri="{BB962C8B-B14F-4D97-AF65-F5344CB8AC3E}">
        <p14:creationId xmlns:p14="http://schemas.microsoft.com/office/powerpoint/2010/main" val="9476632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4F2B-0109-7039-359D-1B084EE6DDC5}"/>
              </a:ext>
            </a:extLst>
          </p:cNvPr>
          <p:cNvSpPr>
            <a:spLocks noGrp="1"/>
          </p:cNvSpPr>
          <p:nvPr>
            <p:ph type="title"/>
          </p:nvPr>
        </p:nvSpPr>
        <p:spPr/>
        <p:txBody>
          <a:bodyPr/>
          <a:lstStyle/>
          <a:p>
            <a:r>
              <a:rPr lang="en-IN" dirty="0" err="1"/>
              <a:t>proJECT</a:t>
            </a:r>
            <a:r>
              <a:rPr lang="en-IN" dirty="0"/>
              <a:t>  PROFILE</a:t>
            </a:r>
          </a:p>
        </p:txBody>
      </p:sp>
      <p:sp>
        <p:nvSpPr>
          <p:cNvPr id="3" name="Content Placeholder 2">
            <a:extLst>
              <a:ext uri="{FF2B5EF4-FFF2-40B4-BE49-F238E27FC236}">
                <a16:creationId xmlns:a16="http://schemas.microsoft.com/office/drawing/2014/main" id="{0DEC036F-ED76-A4F4-84ED-4E659E0BE788}"/>
              </a:ext>
            </a:extLst>
          </p:cNvPr>
          <p:cNvSpPr>
            <a:spLocks noGrp="1"/>
          </p:cNvSpPr>
          <p:nvPr>
            <p:ph idx="1"/>
          </p:nvPr>
        </p:nvSpPr>
        <p:spPr>
          <a:xfrm>
            <a:off x="580151" y="2164360"/>
            <a:ext cx="11029615" cy="4311941"/>
          </a:xfrm>
        </p:spPr>
        <p:txBody>
          <a:bodyPr>
            <a:noAutofit/>
          </a:bodyPr>
          <a:lstStyle/>
          <a:p>
            <a:r>
              <a:rPr lang="en-IN" sz="2800" dirty="0"/>
              <a:t>Project Title    	 :     Airline Reservation Management System</a:t>
            </a:r>
          </a:p>
          <a:p>
            <a:endParaRPr lang="en-IN" sz="2800" dirty="0"/>
          </a:p>
          <a:p>
            <a:r>
              <a:rPr lang="en-IN" sz="2800" dirty="0"/>
              <a:t>Developed By 	 :   Shah Meet  , Shah Aayush , </a:t>
            </a:r>
            <a:r>
              <a:rPr lang="en-IN" sz="2800" dirty="0" err="1"/>
              <a:t>Poriya</a:t>
            </a:r>
            <a:r>
              <a:rPr lang="en-IN" sz="2800" dirty="0"/>
              <a:t> </a:t>
            </a:r>
            <a:r>
              <a:rPr lang="en-IN" sz="2800" dirty="0" err="1"/>
              <a:t>Maharsh</a:t>
            </a:r>
            <a:r>
              <a:rPr lang="en-IN" sz="2800" dirty="0"/>
              <a:t> </a:t>
            </a:r>
          </a:p>
          <a:p>
            <a:pPr marL="0" indent="0">
              <a:buNone/>
            </a:pPr>
            <a:endParaRPr lang="en-IN" sz="2800" dirty="0"/>
          </a:p>
          <a:p>
            <a:r>
              <a:rPr lang="en-IN" sz="2800" dirty="0"/>
              <a:t> Front-end 		 :    HTML5, CSS3, Bootstrap4</a:t>
            </a:r>
          </a:p>
          <a:p>
            <a:pPr marL="0" indent="0">
              <a:buNone/>
            </a:pPr>
            <a:endParaRPr lang="en-IN" sz="2800" dirty="0"/>
          </a:p>
          <a:p>
            <a:r>
              <a:rPr lang="en-IN" sz="2800" dirty="0"/>
              <a:t> Back End 		 :     My SQL Workbench 8.0CE, Java 16.0 Server Apache</a:t>
            </a:r>
          </a:p>
          <a:p>
            <a:endParaRPr lang="en-IN" sz="2800" dirty="0"/>
          </a:p>
        </p:txBody>
      </p:sp>
    </p:spTree>
    <p:extLst>
      <p:ext uri="{BB962C8B-B14F-4D97-AF65-F5344CB8AC3E}">
        <p14:creationId xmlns:p14="http://schemas.microsoft.com/office/powerpoint/2010/main" val="5541742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D9DD9-ECA6-B716-7163-5BF89D570DA5}"/>
              </a:ext>
            </a:extLst>
          </p:cNvPr>
          <p:cNvSpPr>
            <a:spLocks noGrp="1"/>
          </p:cNvSpPr>
          <p:nvPr>
            <p:ph type="title"/>
          </p:nvPr>
        </p:nvSpPr>
        <p:spPr>
          <a:xfrm>
            <a:off x="558376" y="660212"/>
            <a:ext cx="11029616" cy="1013800"/>
          </a:xfrm>
        </p:spPr>
        <p:txBody>
          <a:bodyPr/>
          <a:lstStyle/>
          <a:p>
            <a:r>
              <a:rPr lang="en-IN" dirty="0"/>
              <a:t>Introduction</a:t>
            </a:r>
          </a:p>
        </p:txBody>
      </p:sp>
      <p:sp>
        <p:nvSpPr>
          <p:cNvPr id="3" name="Content Placeholder 2">
            <a:extLst>
              <a:ext uri="{FF2B5EF4-FFF2-40B4-BE49-F238E27FC236}">
                <a16:creationId xmlns:a16="http://schemas.microsoft.com/office/drawing/2014/main" id="{08E23E70-86BC-3301-58ED-1251D2C4FF51}"/>
              </a:ext>
            </a:extLst>
          </p:cNvPr>
          <p:cNvSpPr>
            <a:spLocks noGrp="1"/>
          </p:cNvSpPr>
          <p:nvPr>
            <p:ph idx="1"/>
          </p:nvPr>
        </p:nvSpPr>
        <p:spPr>
          <a:xfrm>
            <a:off x="346301" y="2042957"/>
            <a:ext cx="11241691" cy="4366469"/>
          </a:xfrm>
        </p:spPr>
        <p:txBody>
          <a:bodyPr>
            <a:normAutofit/>
          </a:bodyPr>
          <a:lstStyle/>
          <a:p>
            <a:r>
              <a:rPr lang="en-US" sz="2400" dirty="0"/>
              <a:t>Airline reservation System is a computerized system used to store and retrieve information and conduct transactions related to air travel. The project is aimed at exposing the relevance and importance of Airline Reservation Systems .</a:t>
            </a:r>
          </a:p>
          <a:p>
            <a:r>
              <a:rPr lang="en-US" sz="2400" dirty="0"/>
              <a:t>It contains information on schedules and fares and contains a database of reservations (or passenger name records) and of tickets booked if applicable) also can download the ticket and view it in his/her email. </a:t>
            </a:r>
          </a:p>
          <a:p>
            <a:r>
              <a:rPr lang="en-US" sz="2400" dirty="0"/>
              <a:t>Customers can search flights, book flights etc. Admin can add routes to which the flights will fly, also he/she will add flight schedules for the distinct routes, as well as fares for different flight schedules according to the type of the ticket (Economy, Business and First class). Admin can also generate report date wise</a:t>
            </a:r>
            <a:endParaRPr lang="en-US" sz="2400" i="0" dirty="0">
              <a:solidFill>
                <a:srgbClr val="202124"/>
              </a:solidFill>
              <a:effectLst/>
              <a:cs typeface="Arial" panose="020B0604020202020204" pitchFamily="34" charset="0"/>
            </a:endParaRPr>
          </a:p>
        </p:txBody>
      </p:sp>
    </p:spTree>
    <p:extLst>
      <p:ext uri="{BB962C8B-B14F-4D97-AF65-F5344CB8AC3E}">
        <p14:creationId xmlns:p14="http://schemas.microsoft.com/office/powerpoint/2010/main" val="10359261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91FA-B531-EBBC-93FA-C901B9A62020}"/>
              </a:ext>
            </a:extLst>
          </p:cNvPr>
          <p:cNvSpPr>
            <a:spLocks noGrp="1"/>
          </p:cNvSpPr>
          <p:nvPr>
            <p:ph type="title"/>
          </p:nvPr>
        </p:nvSpPr>
        <p:spPr/>
        <p:txBody>
          <a:bodyPr/>
          <a:lstStyle/>
          <a:p>
            <a:r>
              <a:rPr lang="en-IN" dirty="0"/>
              <a:t>PURPOSE</a:t>
            </a:r>
          </a:p>
        </p:txBody>
      </p:sp>
      <p:sp>
        <p:nvSpPr>
          <p:cNvPr id="3" name="Content Placeholder 2">
            <a:extLst>
              <a:ext uri="{FF2B5EF4-FFF2-40B4-BE49-F238E27FC236}">
                <a16:creationId xmlns:a16="http://schemas.microsoft.com/office/drawing/2014/main" id="{CADE2323-EC5C-5DB9-B5A1-3614EE93000F}"/>
              </a:ext>
            </a:extLst>
          </p:cNvPr>
          <p:cNvSpPr>
            <a:spLocks noGrp="1"/>
          </p:cNvSpPr>
          <p:nvPr>
            <p:ph idx="1"/>
          </p:nvPr>
        </p:nvSpPr>
        <p:spPr>
          <a:xfrm>
            <a:off x="460168" y="2451313"/>
            <a:ext cx="11029616" cy="3431098"/>
          </a:xfrm>
        </p:spPr>
        <p:txBody>
          <a:bodyPr>
            <a:normAutofit/>
          </a:bodyPr>
          <a:lstStyle/>
          <a:p>
            <a:pPr lvl="0"/>
            <a:r>
              <a:rPr lang="en-IN" dirty="0"/>
              <a:t>The proposed system ensures the complete freedom for users where user at his own machine/computer can login to this website and can book his/her ticket.</a:t>
            </a:r>
          </a:p>
          <a:p>
            <a:pPr lvl="0"/>
            <a:r>
              <a:rPr lang="en-IN" dirty="0"/>
              <a:t>Our proposed system allows only registered users to book the tickets, view timings and cancel their tickets. </a:t>
            </a:r>
          </a:p>
          <a:p>
            <a:pPr lvl="0"/>
            <a:r>
              <a:rPr lang="en-IN" dirty="0"/>
              <a:t>The future enhancements can be done by adding a couple of more modules in it, which allows the user to not only book airline but also hotel booking, bus booking, train booking making it a complete one stop destination for the users to manage their travel itinerary from one place with much of hassle.</a:t>
            </a:r>
          </a:p>
          <a:p>
            <a:endParaRPr lang="en-IN" sz="2800" dirty="0"/>
          </a:p>
        </p:txBody>
      </p:sp>
    </p:spTree>
    <p:extLst>
      <p:ext uri="{BB962C8B-B14F-4D97-AF65-F5344CB8AC3E}">
        <p14:creationId xmlns:p14="http://schemas.microsoft.com/office/powerpoint/2010/main" val="9202289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F42D-8684-F3A2-8924-95D954F37CD9}"/>
              </a:ext>
            </a:extLst>
          </p:cNvPr>
          <p:cNvSpPr>
            <a:spLocks noGrp="1"/>
          </p:cNvSpPr>
          <p:nvPr>
            <p:ph type="title"/>
          </p:nvPr>
        </p:nvSpPr>
        <p:spPr/>
        <p:txBody>
          <a:bodyPr/>
          <a:lstStyle/>
          <a:p>
            <a:r>
              <a:rPr lang="en-US" dirty="0"/>
              <a:t>Core Components</a:t>
            </a:r>
            <a:endParaRPr lang="en-IN" dirty="0"/>
          </a:p>
        </p:txBody>
      </p:sp>
      <p:sp>
        <p:nvSpPr>
          <p:cNvPr id="6" name="Content Placeholder 5">
            <a:extLst>
              <a:ext uri="{FF2B5EF4-FFF2-40B4-BE49-F238E27FC236}">
                <a16:creationId xmlns:a16="http://schemas.microsoft.com/office/drawing/2014/main" id="{3013F60E-FB96-AEAD-B4FE-F8EFE53D9FDE}"/>
              </a:ext>
            </a:extLst>
          </p:cNvPr>
          <p:cNvSpPr>
            <a:spLocks noGrp="1"/>
          </p:cNvSpPr>
          <p:nvPr>
            <p:ph idx="1"/>
          </p:nvPr>
        </p:nvSpPr>
        <p:spPr>
          <a:xfrm>
            <a:off x="900916" y="1625786"/>
            <a:ext cx="9784080" cy="4206240"/>
          </a:xfrm>
        </p:spPr>
        <p:txBody>
          <a:bodyPr>
            <a:noAutofit/>
          </a:bodyPr>
          <a:lstStyle/>
          <a:p>
            <a:pPr marL="0" indent="0">
              <a:buNone/>
            </a:pPr>
            <a:endParaRPr lang="en-US" sz="1800" dirty="0">
              <a:latin typeface="+mj-lt"/>
            </a:endParaRPr>
          </a:p>
          <a:p>
            <a:pPr>
              <a:buFont typeface="Wingdings" panose="05000000000000000000" pitchFamily="2" charset="2"/>
              <a:buChar char="v"/>
            </a:pPr>
            <a:r>
              <a:rPr lang="en-US" sz="3200" dirty="0">
                <a:latin typeface="+mj-lt"/>
              </a:rPr>
              <a:t>User :</a:t>
            </a:r>
          </a:p>
          <a:p>
            <a:pPr lvl="1">
              <a:buFont typeface="Arial" panose="020B0604020202020204" pitchFamily="34" charset="0"/>
              <a:buChar char="•"/>
            </a:pPr>
            <a:r>
              <a:rPr lang="en-US" sz="1200" dirty="0"/>
              <a:t>  </a:t>
            </a:r>
            <a:r>
              <a:rPr lang="en-US" dirty="0"/>
              <a:t>Login </a:t>
            </a:r>
          </a:p>
          <a:p>
            <a:pPr lvl="1">
              <a:buFont typeface="Arial" panose="020B0604020202020204" pitchFamily="34" charset="0"/>
              <a:buChar char="•"/>
            </a:pPr>
            <a:r>
              <a:rPr lang="en-US" dirty="0"/>
              <a:t> Registration</a:t>
            </a:r>
          </a:p>
          <a:p>
            <a:pPr lvl="1">
              <a:buFont typeface="Arial" panose="020B0604020202020204" pitchFamily="34" charset="0"/>
              <a:buChar char="•"/>
            </a:pPr>
            <a:r>
              <a:rPr lang="en-US" dirty="0"/>
              <a:t> Forgot password</a:t>
            </a:r>
          </a:p>
          <a:p>
            <a:pPr lvl="1">
              <a:buFont typeface="Arial" panose="020B0604020202020204" pitchFamily="34" charset="0"/>
              <a:buChar char="•"/>
            </a:pPr>
            <a:r>
              <a:rPr lang="en-US" dirty="0"/>
              <a:t> Search Flights </a:t>
            </a:r>
          </a:p>
          <a:p>
            <a:pPr lvl="1">
              <a:buFont typeface="Arial" panose="020B0604020202020204" pitchFamily="34" charset="0"/>
              <a:buChar char="•"/>
            </a:pPr>
            <a:r>
              <a:rPr lang="en-US" dirty="0"/>
              <a:t> Manage Profile </a:t>
            </a:r>
          </a:p>
          <a:p>
            <a:pPr lvl="1">
              <a:buFont typeface="Arial" panose="020B0604020202020204" pitchFamily="34" charset="0"/>
              <a:buChar char="•"/>
            </a:pPr>
            <a:r>
              <a:rPr lang="en-US" dirty="0"/>
              <a:t> Book Flight Tickets</a:t>
            </a:r>
          </a:p>
          <a:p>
            <a:pPr lvl="1">
              <a:buFont typeface="Arial" panose="020B0604020202020204" pitchFamily="34" charset="0"/>
              <a:buChar char="•"/>
            </a:pPr>
            <a:r>
              <a:rPr lang="en-US" dirty="0"/>
              <a:t> View offers</a:t>
            </a:r>
          </a:p>
          <a:p>
            <a:pPr lvl="1">
              <a:buFont typeface="Arial" panose="020B0604020202020204" pitchFamily="34" charset="0"/>
              <a:buChar char="•"/>
            </a:pPr>
            <a:r>
              <a:rPr lang="en-US" dirty="0"/>
              <a:t> Make Payment </a:t>
            </a:r>
          </a:p>
          <a:p>
            <a:pPr lvl="1">
              <a:buFont typeface="Arial" panose="020B0604020202020204" pitchFamily="34" charset="0"/>
              <a:buChar char="•"/>
            </a:pPr>
            <a:r>
              <a:rPr lang="en-US" dirty="0"/>
              <a:t> View Booking History</a:t>
            </a:r>
          </a:p>
          <a:p>
            <a:pPr lvl="1">
              <a:buFont typeface="Arial" panose="020B0604020202020204" pitchFamily="34" charset="0"/>
              <a:buChar char="•"/>
            </a:pPr>
            <a:r>
              <a:rPr lang="en-US" dirty="0"/>
              <a:t>Download Ticket</a:t>
            </a:r>
          </a:p>
          <a:p>
            <a:pPr lvl="1">
              <a:buFont typeface="Arial" panose="020B0604020202020204" pitchFamily="34" charset="0"/>
              <a:buChar char="•"/>
            </a:pPr>
            <a:r>
              <a:rPr lang="en-US" dirty="0"/>
              <a:t>Cancel Booking </a:t>
            </a:r>
          </a:p>
          <a:p>
            <a:pPr lvl="1">
              <a:buFont typeface="Arial" panose="020B0604020202020204" pitchFamily="34" charset="0"/>
              <a:buChar char="•"/>
            </a:pPr>
            <a:r>
              <a:rPr lang="en-US" dirty="0"/>
              <a:t>Logout</a:t>
            </a:r>
            <a:endParaRPr lang="en-IN" dirty="0"/>
          </a:p>
        </p:txBody>
      </p:sp>
      <p:sp>
        <p:nvSpPr>
          <p:cNvPr id="3" name="TextBox 2">
            <a:extLst>
              <a:ext uri="{FF2B5EF4-FFF2-40B4-BE49-F238E27FC236}">
                <a16:creationId xmlns:a16="http://schemas.microsoft.com/office/drawing/2014/main" id="{6A4F4F00-5BF3-EE92-6B09-A02A42BE3DFE}"/>
              </a:ext>
            </a:extLst>
          </p:cNvPr>
          <p:cNvSpPr txBox="1"/>
          <p:nvPr/>
        </p:nvSpPr>
        <p:spPr>
          <a:xfrm>
            <a:off x="1761688" y="2239861"/>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90592756-5017-962B-E192-BCC03C2C0684}"/>
              </a:ext>
            </a:extLst>
          </p:cNvPr>
          <p:cNvSpPr txBox="1"/>
          <p:nvPr/>
        </p:nvSpPr>
        <p:spPr>
          <a:xfrm>
            <a:off x="4353886" y="2239861"/>
            <a:ext cx="3085268" cy="2677656"/>
          </a:xfrm>
          <a:prstGeom prst="rect">
            <a:avLst/>
          </a:prstGeom>
          <a:noFill/>
        </p:spPr>
        <p:txBody>
          <a:bodyPr wrap="none" rtlCol="0">
            <a:spAutoFit/>
          </a:bodyPr>
          <a:lstStyle/>
          <a:p>
            <a:pPr marL="342900" indent="-342900">
              <a:buFont typeface="Wingdings" panose="05000000000000000000" pitchFamily="2" charset="2"/>
              <a:buChar char="v"/>
            </a:pPr>
            <a:r>
              <a:rPr lang="en-US" sz="2400" dirty="0"/>
              <a:t>Admin : </a:t>
            </a:r>
          </a:p>
          <a:p>
            <a:pPr lvl="1"/>
            <a:r>
              <a:rPr lang="en-US" dirty="0"/>
              <a:t>• Login</a:t>
            </a:r>
          </a:p>
          <a:p>
            <a:pPr lvl="1"/>
            <a:r>
              <a:rPr lang="en-US" dirty="0"/>
              <a:t>• Manage Flight Schedule</a:t>
            </a:r>
          </a:p>
          <a:p>
            <a:pPr lvl="1"/>
            <a:r>
              <a:rPr lang="en-US" dirty="0"/>
              <a:t>• View Payments </a:t>
            </a:r>
          </a:p>
          <a:p>
            <a:pPr lvl="1"/>
            <a:r>
              <a:rPr lang="en-US" dirty="0"/>
              <a:t>• Generate Reports </a:t>
            </a:r>
          </a:p>
          <a:p>
            <a:pPr lvl="1"/>
            <a:r>
              <a:rPr lang="en-US" dirty="0"/>
              <a:t>• Manage Airlines</a:t>
            </a:r>
          </a:p>
          <a:p>
            <a:pPr lvl="1"/>
            <a:r>
              <a:rPr lang="en-US" dirty="0"/>
              <a:t>• Manage Route</a:t>
            </a:r>
          </a:p>
          <a:p>
            <a:pPr lvl="1"/>
            <a:r>
              <a:rPr lang="en-US" dirty="0"/>
              <a:t>• Manage Offers</a:t>
            </a:r>
          </a:p>
          <a:p>
            <a:pPr lvl="1"/>
            <a:r>
              <a:rPr lang="en-US" dirty="0"/>
              <a:t>• Logout</a:t>
            </a:r>
            <a:endParaRPr lang="en-IN" dirty="0"/>
          </a:p>
        </p:txBody>
      </p:sp>
      <p:sp>
        <p:nvSpPr>
          <p:cNvPr id="8" name="TextBox 7">
            <a:extLst>
              <a:ext uri="{FF2B5EF4-FFF2-40B4-BE49-F238E27FC236}">
                <a16:creationId xmlns:a16="http://schemas.microsoft.com/office/drawing/2014/main" id="{AAB79733-013D-84BD-CF33-317BA8A8F5D1}"/>
              </a:ext>
            </a:extLst>
          </p:cNvPr>
          <p:cNvSpPr txBox="1"/>
          <p:nvPr/>
        </p:nvSpPr>
        <p:spPr>
          <a:xfrm>
            <a:off x="7764780" y="2239861"/>
            <a:ext cx="2137893" cy="1015663"/>
          </a:xfrm>
          <a:prstGeom prst="rect">
            <a:avLst/>
          </a:prstGeom>
          <a:noFill/>
        </p:spPr>
        <p:txBody>
          <a:bodyPr wrap="none" rtlCol="0">
            <a:spAutoFit/>
          </a:bodyPr>
          <a:lstStyle/>
          <a:p>
            <a:pPr marL="342900" indent="-342900">
              <a:buFont typeface="Wingdings" panose="05000000000000000000" pitchFamily="2" charset="2"/>
              <a:buChar char="v"/>
            </a:pPr>
            <a:r>
              <a:rPr lang="en-US" sz="2400" dirty="0"/>
              <a:t>Guest User : </a:t>
            </a:r>
          </a:p>
          <a:p>
            <a:r>
              <a:rPr lang="en-US" dirty="0"/>
              <a:t>	• View flights</a:t>
            </a:r>
          </a:p>
          <a:p>
            <a:r>
              <a:rPr lang="en-US" dirty="0"/>
              <a:t>	 • Search flights</a:t>
            </a:r>
            <a:endParaRPr lang="en-IN" dirty="0"/>
          </a:p>
        </p:txBody>
      </p:sp>
    </p:spTree>
    <p:extLst>
      <p:ext uri="{BB962C8B-B14F-4D97-AF65-F5344CB8AC3E}">
        <p14:creationId xmlns:p14="http://schemas.microsoft.com/office/powerpoint/2010/main" val="485291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C679E5-D180-82C0-6990-8038865221DD}"/>
              </a:ext>
            </a:extLst>
          </p:cNvPr>
          <p:cNvSpPr/>
          <p:nvPr/>
        </p:nvSpPr>
        <p:spPr>
          <a:xfrm>
            <a:off x="394377" y="1940452"/>
            <a:ext cx="4194306" cy="4524315"/>
          </a:xfrm>
          <a:prstGeom prst="rect">
            <a:avLst/>
          </a:prstGeom>
          <a:noFill/>
        </p:spPr>
        <p:txBody>
          <a:bodyPr wrap="square" lIns="91440" tIns="45720" rIns="91440" bIns="45720">
            <a:spAutoFit/>
          </a:bodyPr>
          <a:lstStyle/>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Admin</a:t>
            </a:r>
          </a:p>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Airline</a:t>
            </a:r>
          </a:p>
          <a:p>
            <a:pPr marL="457200" indent="-457200">
              <a:buFont typeface="Arial" panose="020B0604020202020204" pitchFamily="34" charset="0"/>
              <a:buChar char="•"/>
            </a:pPr>
            <a:r>
              <a:rPr lang="en-US" sz="3200" dirty="0">
                <a:ln w="0"/>
                <a:solidFill>
                  <a:schemeClr val="accent1">
                    <a:lumMod val="60000"/>
                    <a:lumOff val="40000"/>
                  </a:schemeClr>
                </a:solidFill>
                <a:effectLst>
                  <a:outerShdw blurRad="38100" dist="19050" dir="2700000" algn="tl" rotWithShape="0">
                    <a:schemeClr val="dk1">
                      <a:alpha val="40000"/>
                    </a:schemeClr>
                  </a:outerShdw>
                </a:effectLst>
              </a:rPr>
              <a:t>Cities</a:t>
            </a:r>
          </a:p>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Feedback</a:t>
            </a:r>
            <a:endParaRPr lang="en-US" sz="3200" dirty="0">
              <a:ln w="0"/>
              <a:solidFill>
                <a:schemeClr val="accent1">
                  <a:lumMod val="60000"/>
                  <a:lumOff val="40000"/>
                </a:schemeClr>
              </a:solidFill>
              <a:effectLst>
                <a:outerShdw blurRad="38100" dist="19050" dir="2700000" algn="tl" rotWithShape="0">
                  <a:schemeClr val="dk1">
                    <a:alpha val="40000"/>
                  </a:schemeClr>
                </a:outerShdw>
              </a:effectLst>
            </a:endParaRPr>
          </a:p>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Flight</a:t>
            </a:r>
          </a:p>
          <a:p>
            <a:pPr marL="457200" indent="-457200">
              <a:buFont typeface="Arial" panose="020B0604020202020204" pitchFamily="34" charset="0"/>
              <a:buChar char="•"/>
            </a:pPr>
            <a:r>
              <a:rPr lang="en-US" sz="3200" dirty="0" err="1">
                <a:ln w="0"/>
                <a:solidFill>
                  <a:schemeClr val="accent1">
                    <a:lumMod val="60000"/>
                    <a:lumOff val="40000"/>
                  </a:schemeClr>
                </a:solidFill>
                <a:effectLst>
                  <a:outerShdw blurRad="38100" dist="19050" dir="2700000" algn="tl" rotWithShape="0">
                    <a:schemeClr val="dk1">
                      <a:alpha val="40000"/>
                    </a:schemeClr>
                  </a:outerShdw>
                </a:effectLst>
              </a:rPr>
              <a:t>Pasenger_profile</a:t>
            </a:r>
            <a:endParaRPr lang="en-US" sz="3200" dirty="0">
              <a:ln w="0"/>
              <a:solidFill>
                <a:schemeClr val="accent1">
                  <a:lumMod val="60000"/>
                  <a:lumOff val="40000"/>
                </a:schemeClr>
              </a:solidFill>
              <a:effectLst>
                <a:outerShdw blurRad="38100" dist="19050" dir="2700000" algn="tl" rotWithShape="0">
                  <a:schemeClr val="dk1">
                    <a:alpha val="40000"/>
                  </a:schemeClr>
                </a:outerShdw>
              </a:effectLst>
            </a:endParaRPr>
          </a:p>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Payment</a:t>
            </a:r>
          </a:p>
          <a:p>
            <a:pPr marL="457200" indent="-457200">
              <a:buFont typeface="Arial" panose="020B0604020202020204" pitchFamily="34" charset="0"/>
              <a:buChar char="•"/>
            </a:pP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Ticket</a:t>
            </a:r>
          </a:p>
          <a:p>
            <a:pPr marL="457200" indent="-457200">
              <a:buFont typeface="Arial" panose="020B0604020202020204" pitchFamily="34" charset="0"/>
              <a:buChar char="•"/>
            </a:pPr>
            <a:r>
              <a:rPr lang="en-US" sz="3200" dirty="0">
                <a:ln w="0"/>
                <a:solidFill>
                  <a:schemeClr val="accent1">
                    <a:lumMod val="60000"/>
                    <a:lumOff val="40000"/>
                  </a:schemeClr>
                </a:solidFill>
                <a:effectLst>
                  <a:outerShdw blurRad="38100" dist="19050" dir="2700000" algn="tl" rotWithShape="0">
                    <a:schemeClr val="dk1">
                      <a:alpha val="40000"/>
                    </a:schemeClr>
                  </a:outerShdw>
                </a:effectLst>
              </a:rPr>
              <a:t>Users</a:t>
            </a:r>
            <a:endPar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endParaRPr>
          </a:p>
        </p:txBody>
      </p:sp>
      <p:sp>
        <p:nvSpPr>
          <p:cNvPr id="6" name="Title 5">
            <a:extLst>
              <a:ext uri="{FF2B5EF4-FFF2-40B4-BE49-F238E27FC236}">
                <a16:creationId xmlns:a16="http://schemas.microsoft.com/office/drawing/2014/main" id="{25D9143F-B649-0754-62F9-EEF8CBB3DC8A}"/>
              </a:ext>
            </a:extLst>
          </p:cNvPr>
          <p:cNvSpPr>
            <a:spLocks noGrp="1"/>
          </p:cNvSpPr>
          <p:nvPr>
            <p:ph type="title"/>
          </p:nvPr>
        </p:nvSpPr>
        <p:spPr/>
        <p:txBody>
          <a:bodyPr/>
          <a:lstStyle/>
          <a:p>
            <a:r>
              <a:rPr lang="en-IN" dirty="0"/>
              <a:t>Data dictionary</a:t>
            </a:r>
          </a:p>
        </p:txBody>
      </p:sp>
    </p:spTree>
    <p:extLst>
      <p:ext uri="{BB962C8B-B14F-4D97-AF65-F5344CB8AC3E}">
        <p14:creationId xmlns:p14="http://schemas.microsoft.com/office/powerpoint/2010/main" val="25849686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C746319-D313-64AC-0983-49746F3EA1DA}"/>
              </a:ext>
            </a:extLst>
          </p:cNvPr>
          <p:cNvPicPr>
            <a:picLocks noChangeAspect="1"/>
          </p:cNvPicPr>
          <p:nvPr/>
        </p:nvPicPr>
        <p:blipFill>
          <a:blip r:embed="rId2"/>
          <a:stretch>
            <a:fillRect/>
          </a:stretch>
        </p:blipFill>
        <p:spPr>
          <a:xfrm>
            <a:off x="3112316" y="1795953"/>
            <a:ext cx="4943130" cy="4026007"/>
          </a:xfrm>
          <a:prstGeom prst="rect">
            <a:avLst/>
          </a:prstGeom>
        </p:spPr>
      </p:pic>
      <p:sp>
        <p:nvSpPr>
          <p:cNvPr id="7" name="TextBox 6">
            <a:extLst>
              <a:ext uri="{FF2B5EF4-FFF2-40B4-BE49-F238E27FC236}">
                <a16:creationId xmlns:a16="http://schemas.microsoft.com/office/drawing/2014/main" id="{4C1E923E-2CD3-E8B6-DC5F-957A89009B6D}"/>
              </a:ext>
            </a:extLst>
          </p:cNvPr>
          <p:cNvSpPr txBox="1"/>
          <p:nvPr/>
        </p:nvSpPr>
        <p:spPr>
          <a:xfrm>
            <a:off x="251670" y="328154"/>
            <a:ext cx="4212885" cy="707886"/>
          </a:xfrm>
          <a:prstGeom prst="rect">
            <a:avLst/>
          </a:prstGeom>
          <a:noFill/>
        </p:spPr>
        <p:txBody>
          <a:bodyPr wrap="none" rtlCol="0">
            <a:spAutoFit/>
          </a:bodyPr>
          <a:lstStyle/>
          <a:p>
            <a:r>
              <a:rPr lang="en-IN" sz="4000" dirty="0">
                <a:solidFill>
                  <a:schemeClr val="accent1">
                    <a:lumMod val="60000"/>
                    <a:lumOff val="40000"/>
                  </a:schemeClr>
                </a:solidFill>
              </a:rPr>
              <a:t>Structure of Admin</a:t>
            </a:r>
          </a:p>
        </p:txBody>
      </p:sp>
    </p:spTree>
    <p:extLst>
      <p:ext uri="{BB962C8B-B14F-4D97-AF65-F5344CB8AC3E}">
        <p14:creationId xmlns:p14="http://schemas.microsoft.com/office/powerpoint/2010/main" val="1385717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571BED8-62C6-5B5F-14F2-D575419F8E45}"/>
              </a:ext>
            </a:extLst>
          </p:cNvPr>
          <p:cNvSpPr/>
          <p:nvPr/>
        </p:nvSpPr>
        <p:spPr>
          <a:xfrm>
            <a:off x="0" y="387159"/>
            <a:ext cx="4521666" cy="646331"/>
          </a:xfrm>
          <a:prstGeom prst="rect">
            <a:avLst/>
          </a:prstGeom>
          <a:noFill/>
        </p:spPr>
        <p:txBody>
          <a:bodyPr wrap="square" lIns="91440" tIns="45720" rIns="91440" bIns="45720">
            <a:spAutoFit/>
          </a:bodyPr>
          <a:lstStyle/>
          <a:p>
            <a:pPr algn="ctr"/>
            <a:r>
              <a:rPr lang="en-US" sz="36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Airline</a:t>
            </a:r>
          </a:p>
        </p:txBody>
      </p:sp>
      <p:pic>
        <p:nvPicPr>
          <p:cNvPr id="3" name="Picture 2">
            <a:extLst>
              <a:ext uri="{FF2B5EF4-FFF2-40B4-BE49-F238E27FC236}">
                <a16:creationId xmlns:a16="http://schemas.microsoft.com/office/drawing/2014/main" id="{D0EB5D1A-2985-075D-F5AB-7384D32933EE}"/>
              </a:ext>
            </a:extLst>
          </p:cNvPr>
          <p:cNvPicPr>
            <a:picLocks noChangeAspect="1"/>
          </p:cNvPicPr>
          <p:nvPr/>
        </p:nvPicPr>
        <p:blipFill>
          <a:blip r:embed="rId2"/>
          <a:stretch>
            <a:fillRect/>
          </a:stretch>
        </p:blipFill>
        <p:spPr>
          <a:xfrm>
            <a:off x="2852257" y="1706771"/>
            <a:ext cx="5851923" cy="3771239"/>
          </a:xfrm>
          <a:prstGeom prst="rect">
            <a:avLst/>
          </a:prstGeom>
        </p:spPr>
      </p:pic>
    </p:spTree>
    <p:extLst>
      <p:ext uri="{BB962C8B-B14F-4D97-AF65-F5344CB8AC3E}">
        <p14:creationId xmlns:p14="http://schemas.microsoft.com/office/powerpoint/2010/main" val="4285748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A8DAAD0-2B1A-0BB1-2D4D-CB2644EEC1CE}"/>
              </a:ext>
            </a:extLst>
          </p:cNvPr>
          <p:cNvSpPr/>
          <p:nvPr/>
        </p:nvSpPr>
        <p:spPr>
          <a:xfrm>
            <a:off x="-654966" y="215746"/>
            <a:ext cx="6372065" cy="769441"/>
          </a:xfrm>
          <a:prstGeom prst="rect">
            <a:avLst/>
          </a:prstGeom>
          <a:noFill/>
        </p:spPr>
        <p:txBody>
          <a:bodyPr wrap="square" lIns="91440" tIns="45720" rIns="91440" bIns="45720">
            <a:spAutoFit/>
          </a:bodyPr>
          <a:lstStyle/>
          <a:p>
            <a:pPr algn="ctr"/>
            <a:r>
              <a:rPr lang="en-US" sz="44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Cities</a:t>
            </a:r>
          </a:p>
        </p:txBody>
      </p:sp>
      <p:pic>
        <p:nvPicPr>
          <p:cNvPr id="5" name="Picture 4">
            <a:extLst>
              <a:ext uri="{FF2B5EF4-FFF2-40B4-BE49-F238E27FC236}">
                <a16:creationId xmlns:a16="http://schemas.microsoft.com/office/drawing/2014/main" id="{FF2B387A-B68B-09B5-6FD2-47FE87C838C9}"/>
              </a:ext>
            </a:extLst>
          </p:cNvPr>
          <p:cNvPicPr>
            <a:picLocks noChangeAspect="1"/>
          </p:cNvPicPr>
          <p:nvPr/>
        </p:nvPicPr>
        <p:blipFill>
          <a:blip r:embed="rId2"/>
          <a:stretch>
            <a:fillRect/>
          </a:stretch>
        </p:blipFill>
        <p:spPr>
          <a:xfrm>
            <a:off x="2978174" y="1963023"/>
            <a:ext cx="6235651" cy="2443358"/>
          </a:xfrm>
          <a:prstGeom prst="rect">
            <a:avLst/>
          </a:prstGeom>
        </p:spPr>
      </p:pic>
    </p:spTree>
    <p:extLst>
      <p:ext uri="{BB962C8B-B14F-4D97-AF65-F5344CB8AC3E}">
        <p14:creationId xmlns:p14="http://schemas.microsoft.com/office/powerpoint/2010/main" val="30906715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6CDDAEA-0018-AF44-0311-B23F1DF1BCF8}"/>
              </a:ext>
            </a:extLst>
          </p:cNvPr>
          <p:cNvSpPr/>
          <p:nvPr/>
        </p:nvSpPr>
        <p:spPr>
          <a:xfrm>
            <a:off x="197626" y="230696"/>
            <a:ext cx="6500497" cy="923330"/>
          </a:xfrm>
          <a:prstGeom prst="rect">
            <a:avLst/>
          </a:prstGeom>
          <a:noFill/>
        </p:spPr>
        <p:txBody>
          <a:bodyPr wrap="none" lIns="91440" tIns="45720" rIns="91440" bIns="45720">
            <a:spAutoFit/>
          </a:bodyPr>
          <a:lstStyle/>
          <a:p>
            <a:pPr algn="ctr"/>
            <a:r>
              <a:rPr lang="en-US" sz="54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Feedback</a:t>
            </a:r>
          </a:p>
        </p:txBody>
      </p:sp>
      <p:pic>
        <p:nvPicPr>
          <p:cNvPr id="5" name="Picture 4">
            <a:extLst>
              <a:ext uri="{FF2B5EF4-FFF2-40B4-BE49-F238E27FC236}">
                <a16:creationId xmlns:a16="http://schemas.microsoft.com/office/drawing/2014/main" id="{4E4653AE-AB21-689A-3705-A5413A594620}"/>
              </a:ext>
            </a:extLst>
          </p:cNvPr>
          <p:cNvPicPr>
            <a:picLocks noChangeAspect="1"/>
          </p:cNvPicPr>
          <p:nvPr/>
        </p:nvPicPr>
        <p:blipFill>
          <a:blip r:embed="rId2"/>
          <a:stretch>
            <a:fillRect/>
          </a:stretch>
        </p:blipFill>
        <p:spPr>
          <a:xfrm>
            <a:off x="3993159" y="1338846"/>
            <a:ext cx="4018327" cy="5451529"/>
          </a:xfrm>
          <a:prstGeom prst="rect">
            <a:avLst/>
          </a:prstGeom>
        </p:spPr>
      </p:pic>
    </p:spTree>
    <p:extLst>
      <p:ext uri="{BB962C8B-B14F-4D97-AF65-F5344CB8AC3E}">
        <p14:creationId xmlns:p14="http://schemas.microsoft.com/office/powerpoint/2010/main" val="23768829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0DD3919-E393-3CF6-DDD2-97B8A4EE282D}"/>
              </a:ext>
            </a:extLst>
          </p:cNvPr>
          <p:cNvSpPr/>
          <p:nvPr/>
        </p:nvSpPr>
        <p:spPr>
          <a:xfrm>
            <a:off x="-1521607" y="175627"/>
            <a:ext cx="8485401" cy="830997"/>
          </a:xfrm>
          <a:prstGeom prst="rect">
            <a:avLst/>
          </a:prstGeom>
          <a:noFill/>
        </p:spPr>
        <p:txBody>
          <a:bodyPr wrap="square" lIns="91440" tIns="45720" rIns="91440" bIns="45720">
            <a:spAutoFit/>
          </a:bodyPr>
          <a:lstStyle/>
          <a:p>
            <a:pPr algn="ctr"/>
            <a:r>
              <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Flight</a:t>
            </a:r>
          </a:p>
        </p:txBody>
      </p:sp>
      <p:pic>
        <p:nvPicPr>
          <p:cNvPr id="7" name="Picture 6">
            <a:extLst>
              <a:ext uri="{FF2B5EF4-FFF2-40B4-BE49-F238E27FC236}">
                <a16:creationId xmlns:a16="http://schemas.microsoft.com/office/drawing/2014/main" id="{C839EFF0-3D5A-374F-0557-ABE649DA1A40}"/>
              </a:ext>
            </a:extLst>
          </p:cNvPr>
          <p:cNvPicPr>
            <a:picLocks noChangeAspect="1"/>
          </p:cNvPicPr>
          <p:nvPr/>
        </p:nvPicPr>
        <p:blipFill>
          <a:blip r:embed="rId2"/>
          <a:stretch>
            <a:fillRect/>
          </a:stretch>
        </p:blipFill>
        <p:spPr>
          <a:xfrm>
            <a:off x="4285997" y="1006623"/>
            <a:ext cx="3620005" cy="5770192"/>
          </a:xfrm>
          <a:prstGeom prst="rect">
            <a:avLst/>
          </a:prstGeom>
        </p:spPr>
      </p:pic>
    </p:spTree>
    <p:extLst>
      <p:ext uri="{BB962C8B-B14F-4D97-AF65-F5344CB8AC3E}">
        <p14:creationId xmlns:p14="http://schemas.microsoft.com/office/powerpoint/2010/main" val="41805462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3292EA-3645-14EF-CC30-1BF174AB21A7}"/>
              </a:ext>
            </a:extLst>
          </p:cNvPr>
          <p:cNvSpPr/>
          <p:nvPr/>
        </p:nvSpPr>
        <p:spPr>
          <a:xfrm>
            <a:off x="-350834" y="0"/>
            <a:ext cx="8485401" cy="830997"/>
          </a:xfrm>
          <a:prstGeom prst="rect">
            <a:avLst/>
          </a:prstGeom>
          <a:noFill/>
        </p:spPr>
        <p:txBody>
          <a:bodyPr wrap="square" lIns="91440" tIns="45720" rIns="91440" bIns="45720">
            <a:spAutoFit/>
          </a:bodyPr>
          <a:lstStyle/>
          <a:p>
            <a:pPr algn="ctr"/>
            <a:r>
              <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a:t>
            </a:r>
            <a:r>
              <a:rPr lang="en-US" sz="4800" b="0" cap="none" spc="0" dirty="0" err="1">
                <a:ln w="0"/>
                <a:solidFill>
                  <a:schemeClr val="accent1">
                    <a:lumMod val="60000"/>
                    <a:lumOff val="40000"/>
                  </a:schemeClr>
                </a:solidFill>
                <a:effectLst>
                  <a:outerShdw blurRad="38100" dist="19050" dir="2700000" algn="tl" rotWithShape="0">
                    <a:schemeClr val="dk1">
                      <a:alpha val="40000"/>
                    </a:schemeClr>
                  </a:outerShdw>
                </a:effectLst>
              </a:rPr>
              <a:t>Passenger_profile</a:t>
            </a:r>
            <a:endPar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endParaRPr>
          </a:p>
        </p:txBody>
      </p:sp>
      <p:pic>
        <p:nvPicPr>
          <p:cNvPr id="4" name="Picture 3">
            <a:extLst>
              <a:ext uri="{FF2B5EF4-FFF2-40B4-BE49-F238E27FC236}">
                <a16:creationId xmlns:a16="http://schemas.microsoft.com/office/drawing/2014/main" id="{3C1397EC-CFCF-2638-547C-0F1F60CF8E07}"/>
              </a:ext>
            </a:extLst>
          </p:cNvPr>
          <p:cNvPicPr>
            <a:picLocks noChangeAspect="1"/>
          </p:cNvPicPr>
          <p:nvPr/>
        </p:nvPicPr>
        <p:blipFill>
          <a:blip r:embed="rId2"/>
          <a:stretch>
            <a:fillRect/>
          </a:stretch>
        </p:blipFill>
        <p:spPr>
          <a:xfrm>
            <a:off x="3814648" y="996801"/>
            <a:ext cx="3928390" cy="5657736"/>
          </a:xfrm>
          <a:prstGeom prst="rect">
            <a:avLst/>
          </a:prstGeom>
        </p:spPr>
      </p:pic>
    </p:spTree>
    <p:extLst>
      <p:ext uri="{BB962C8B-B14F-4D97-AF65-F5344CB8AC3E}">
        <p14:creationId xmlns:p14="http://schemas.microsoft.com/office/powerpoint/2010/main" val="3296903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622631-401C-35D3-44B7-169AD919C1DE}"/>
              </a:ext>
            </a:extLst>
          </p:cNvPr>
          <p:cNvSpPr/>
          <p:nvPr/>
        </p:nvSpPr>
        <p:spPr>
          <a:xfrm>
            <a:off x="-350834" y="0"/>
            <a:ext cx="8485401" cy="830997"/>
          </a:xfrm>
          <a:prstGeom prst="rect">
            <a:avLst/>
          </a:prstGeom>
          <a:noFill/>
        </p:spPr>
        <p:txBody>
          <a:bodyPr wrap="square" lIns="91440" tIns="45720" rIns="91440" bIns="45720">
            <a:spAutoFit/>
          </a:bodyPr>
          <a:lstStyle/>
          <a:p>
            <a:pPr algn="ctr"/>
            <a:r>
              <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Payment </a:t>
            </a:r>
          </a:p>
        </p:txBody>
      </p:sp>
      <p:pic>
        <p:nvPicPr>
          <p:cNvPr id="4" name="Picture 3">
            <a:extLst>
              <a:ext uri="{FF2B5EF4-FFF2-40B4-BE49-F238E27FC236}">
                <a16:creationId xmlns:a16="http://schemas.microsoft.com/office/drawing/2014/main" id="{5781C0A5-734A-0025-6510-EDEB99CC161C}"/>
              </a:ext>
            </a:extLst>
          </p:cNvPr>
          <p:cNvPicPr>
            <a:picLocks noChangeAspect="1"/>
          </p:cNvPicPr>
          <p:nvPr/>
        </p:nvPicPr>
        <p:blipFill>
          <a:blip r:embed="rId2"/>
          <a:stretch>
            <a:fillRect/>
          </a:stretch>
        </p:blipFill>
        <p:spPr>
          <a:xfrm>
            <a:off x="3598878" y="1661348"/>
            <a:ext cx="4337132" cy="4713016"/>
          </a:xfrm>
          <a:prstGeom prst="rect">
            <a:avLst/>
          </a:prstGeom>
        </p:spPr>
      </p:pic>
    </p:spTree>
    <p:extLst>
      <p:ext uri="{BB962C8B-B14F-4D97-AF65-F5344CB8AC3E}">
        <p14:creationId xmlns:p14="http://schemas.microsoft.com/office/powerpoint/2010/main" val="1132550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92B12C-C8C7-217C-EE51-D30DF303A263}"/>
              </a:ext>
            </a:extLst>
          </p:cNvPr>
          <p:cNvSpPr/>
          <p:nvPr/>
        </p:nvSpPr>
        <p:spPr>
          <a:xfrm>
            <a:off x="-1013565" y="22562"/>
            <a:ext cx="8485401" cy="830997"/>
          </a:xfrm>
          <a:prstGeom prst="rect">
            <a:avLst/>
          </a:prstGeom>
          <a:noFill/>
        </p:spPr>
        <p:txBody>
          <a:bodyPr wrap="square" lIns="91440" tIns="45720" rIns="91440" bIns="45720">
            <a:spAutoFit/>
          </a:bodyPr>
          <a:lstStyle/>
          <a:p>
            <a:pPr algn="ctr"/>
            <a:r>
              <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Ticket </a:t>
            </a:r>
          </a:p>
        </p:txBody>
      </p:sp>
      <p:pic>
        <p:nvPicPr>
          <p:cNvPr id="4" name="Picture 3">
            <a:extLst>
              <a:ext uri="{FF2B5EF4-FFF2-40B4-BE49-F238E27FC236}">
                <a16:creationId xmlns:a16="http://schemas.microsoft.com/office/drawing/2014/main" id="{CE55839E-30EB-64B1-B33B-DB3304F26313}"/>
              </a:ext>
            </a:extLst>
          </p:cNvPr>
          <p:cNvPicPr>
            <a:picLocks noChangeAspect="1"/>
          </p:cNvPicPr>
          <p:nvPr/>
        </p:nvPicPr>
        <p:blipFill>
          <a:blip r:embed="rId2"/>
          <a:stretch>
            <a:fillRect/>
          </a:stretch>
        </p:blipFill>
        <p:spPr>
          <a:xfrm>
            <a:off x="3725568" y="1234746"/>
            <a:ext cx="3891635" cy="5185193"/>
          </a:xfrm>
          <a:prstGeom prst="rect">
            <a:avLst/>
          </a:prstGeom>
        </p:spPr>
      </p:pic>
    </p:spTree>
    <p:extLst>
      <p:ext uri="{BB962C8B-B14F-4D97-AF65-F5344CB8AC3E}">
        <p14:creationId xmlns:p14="http://schemas.microsoft.com/office/powerpoint/2010/main" val="3993420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176CC6-42C8-CE72-52C4-2C70EC3F3400}"/>
              </a:ext>
            </a:extLst>
          </p:cNvPr>
          <p:cNvSpPr/>
          <p:nvPr/>
        </p:nvSpPr>
        <p:spPr>
          <a:xfrm>
            <a:off x="-1214901" y="75501"/>
            <a:ext cx="8485401" cy="830997"/>
          </a:xfrm>
          <a:prstGeom prst="rect">
            <a:avLst/>
          </a:prstGeom>
          <a:noFill/>
        </p:spPr>
        <p:txBody>
          <a:bodyPr wrap="square" lIns="91440" tIns="45720" rIns="91440" bIns="45720">
            <a:spAutoFit/>
          </a:bodyPr>
          <a:lstStyle/>
          <a:p>
            <a:pPr algn="ctr"/>
            <a:r>
              <a:rPr lang="en-US" sz="4800" b="0" cap="none" spc="0" dirty="0">
                <a:ln w="0"/>
                <a:solidFill>
                  <a:schemeClr val="accent1">
                    <a:lumMod val="60000"/>
                    <a:lumOff val="40000"/>
                  </a:schemeClr>
                </a:solidFill>
                <a:effectLst>
                  <a:outerShdw blurRad="38100" dist="19050" dir="2700000" algn="tl" rotWithShape="0">
                    <a:schemeClr val="dk1">
                      <a:alpha val="40000"/>
                    </a:schemeClr>
                  </a:outerShdw>
                </a:effectLst>
              </a:rPr>
              <a:t>Structure of Users </a:t>
            </a:r>
          </a:p>
        </p:txBody>
      </p:sp>
      <p:pic>
        <p:nvPicPr>
          <p:cNvPr id="4" name="Picture 3">
            <a:extLst>
              <a:ext uri="{FF2B5EF4-FFF2-40B4-BE49-F238E27FC236}">
                <a16:creationId xmlns:a16="http://schemas.microsoft.com/office/drawing/2014/main" id="{AEE5F27E-E5B5-C5A0-C044-26B29BE9B1D2}"/>
              </a:ext>
            </a:extLst>
          </p:cNvPr>
          <p:cNvPicPr>
            <a:picLocks noChangeAspect="1"/>
          </p:cNvPicPr>
          <p:nvPr/>
        </p:nvPicPr>
        <p:blipFill>
          <a:blip r:embed="rId2"/>
          <a:stretch>
            <a:fillRect/>
          </a:stretch>
        </p:blipFill>
        <p:spPr>
          <a:xfrm>
            <a:off x="2862841" y="1242139"/>
            <a:ext cx="5255664" cy="4643353"/>
          </a:xfrm>
          <a:prstGeom prst="rect">
            <a:avLst/>
          </a:prstGeom>
        </p:spPr>
      </p:pic>
    </p:spTree>
    <p:extLst>
      <p:ext uri="{BB962C8B-B14F-4D97-AF65-F5344CB8AC3E}">
        <p14:creationId xmlns:p14="http://schemas.microsoft.com/office/powerpoint/2010/main" val="1644556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2A752-379C-D59A-4BD1-631FFF6C0DF3}"/>
              </a:ext>
            </a:extLst>
          </p:cNvPr>
          <p:cNvSpPr>
            <a:spLocks noGrp="1"/>
          </p:cNvSpPr>
          <p:nvPr>
            <p:ph type="title"/>
          </p:nvPr>
        </p:nvSpPr>
        <p:spPr>
          <a:xfrm>
            <a:off x="44566" y="317732"/>
            <a:ext cx="9784080" cy="1508760"/>
          </a:xfrm>
        </p:spPr>
        <p:txBody>
          <a:bodyPr/>
          <a:lstStyle/>
          <a:p>
            <a:r>
              <a:rPr lang="en-IN" dirty="0"/>
              <a:t>                       Screenshots of our system</a:t>
            </a:r>
          </a:p>
        </p:txBody>
      </p:sp>
      <p:sp>
        <p:nvSpPr>
          <p:cNvPr id="3" name="Rectangle 2">
            <a:extLst>
              <a:ext uri="{FF2B5EF4-FFF2-40B4-BE49-F238E27FC236}">
                <a16:creationId xmlns:a16="http://schemas.microsoft.com/office/drawing/2014/main" id="{BE524FAC-790A-D86F-72A7-9CBEC59FD69E}"/>
              </a:ext>
            </a:extLst>
          </p:cNvPr>
          <p:cNvSpPr/>
          <p:nvPr/>
        </p:nvSpPr>
        <p:spPr>
          <a:xfrm>
            <a:off x="-2081" y="1719292"/>
            <a:ext cx="2975495" cy="584775"/>
          </a:xfrm>
          <a:prstGeom prst="rect">
            <a:avLst/>
          </a:prstGeom>
          <a:noFill/>
        </p:spPr>
        <p:txBody>
          <a:bodyPr wrap="none" lIns="91440" tIns="45720" rIns="91440" bIns="45720">
            <a:spAutoFit/>
          </a:bodyPr>
          <a:lstStyle/>
          <a:p>
            <a:pPr algn="ctr"/>
            <a:r>
              <a:rPr lang="en-US" sz="3200" b="0" cap="none" spc="0" dirty="0">
                <a:ln w="0"/>
                <a:solidFill>
                  <a:schemeClr val="accent1">
                    <a:lumMod val="60000"/>
                    <a:lumOff val="40000"/>
                  </a:schemeClr>
                </a:solidFill>
                <a:effectLst>
                  <a:outerShdw blurRad="38100" dist="19050" dir="2700000" algn="tl" rotWithShape="0">
                    <a:schemeClr val="dk1">
                      <a:alpha val="40000"/>
                    </a:schemeClr>
                  </a:outerShdw>
                </a:effectLst>
              </a:rPr>
              <a:t>Passenger Login</a:t>
            </a:r>
          </a:p>
        </p:txBody>
      </p:sp>
      <p:pic>
        <p:nvPicPr>
          <p:cNvPr id="10" name="Picture 9">
            <a:extLst>
              <a:ext uri="{FF2B5EF4-FFF2-40B4-BE49-F238E27FC236}">
                <a16:creationId xmlns:a16="http://schemas.microsoft.com/office/drawing/2014/main" id="{4C88856C-8A39-9840-670B-FF81F09679F6}"/>
              </a:ext>
            </a:extLst>
          </p:cNvPr>
          <p:cNvPicPr>
            <a:picLocks noChangeAspect="1"/>
          </p:cNvPicPr>
          <p:nvPr/>
        </p:nvPicPr>
        <p:blipFill>
          <a:blip r:embed="rId2"/>
          <a:stretch>
            <a:fillRect/>
          </a:stretch>
        </p:blipFill>
        <p:spPr>
          <a:xfrm>
            <a:off x="3838471" y="1932028"/>
            <a:ext cx="7148528" cy="4834103"/>
          </a:xfrm>
          <a:prstGeom prst="rect">
            <a:avLst/>
          </a:prstGeom>
        </p:spPr>
      </p:pic>
    </p:spTree>
    <p:extLst>
      <p:ext uri="{BB962C8B-B14F-4D97-AF65-F5344CB8AC3E}">
        <p14:creationId xmlns:p14="http://schemas.microsoft.com/office/powerpoint/2010/main" val="4131031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A3D158-9271-3CE3-E85F-68009DED3945}"/>
              </a:ext>
            </a:extLst>
          </p:cNvPr>
          <p:cNvSpPr/>
          <p:nvPr/>
        </p:nvSpPr>
        <p:spPr>
          <a:xfrm>
            <a:off x="424186" y="618417"/>
            <a:ext cx="5059014" cy="707886"/>
          </a:xfrm>
          <a:prstGeom prst="rect">
            <a:avLst/>
          </a:prstGeom>
          <a:noFill/>
        </p:spPr>
        <p:txBody>
          <a:bodyPr wrap="none" lIns="91440" tIns="45720" rIns="91440" bIns="45720">
            <a:spAutoFit/>
          </a:bodyPr>
          <a:lstStyle/>
          <a:p>
            <a:pPr algn="ctr"/>
            <a:r>
              <a:rPr lang="en-US" sz="4000" dirty="0">
                <a:ln w="0"/>
                <a:solidFill>
                  <a:schemeClr val="accent1"/>
                </a:solidFill>
                <a:effectLst>
                  <a:outerShdw blurRad="38100" dist="25400" dir="5400000" algn="ctr" rotWithShape="0">
                    <a:srgbClr val="6E747A">
                      <a:alpha val="43000"/>
                    </a:srgbClr>
                  </a:outerShdw>
                </a:effectLst>
              </a:rPr>
              <a:t>Passenger</a:t>
            </a:r>
            <a:r>
              <a:rPr lang="en-US" sz="4000" b="0" cap="none" spc="0" dirty="0">
                <a:ln w="0"/>
                <a:solidFill>
                  <a:schemeClr val="accent1"/>
                </a:solidFill>
                <a:effectLst>
                  <a:outerShdw blurRad="38100" dist="25400" dir="5400000" algn="ctr" rotWithShape="0">
                    <a:srgbClr val="6E747A">
                      <a:alpha val="43000"/>
                    </a:srgbClr>
                  </a:outerShdw>
                </a:effectLst>
              </a:rPr>
              <a:t> Registration</a:t>
            </a:r>
          </a:p>
        </p:txBody>
      </p:sp>
      <p:pic>
        <p:nvPicPr>
          <p:cNvPr id="4" name="Picture 3">
            <a:extLst>
              <a:ext uri="{FF2B5EF4-FFF2-40B4-BE49-F238E27FC236}">
                <a16:creationId xmlns:a16="http://schemas.microsoft.com/office/drawing/2014/main" id="{1F5047E5-9AFA-C34E-28BC-7EB448B49C8F}"/>
              </a:ext>
            </a:extLst>
          </p:cNvPr>
          <p:cNvPicPr>
            <a:picLocks noChangeAspect="1"/>
          </p:cNvPicPr>
          <p:nvPr/>
        </p:nvPicPr>
        <p:blipFill>
          <a:blip r:embed="rId2"/>
          <a:stretch>
            <a:fillRect/>
          </a:stretch>
        </p:blipFill>
        <p:spPr>
          <a:xfrm>
            <a:off x="0" y="1507111"/>
            <a:ext cx="12192000" cy="5102126"/>
          </a:xfrm>
          <a:prstGeom prst="rect">
            <a:avLst/>
          </a:prstGeom>
        </p:spPr>
      </p:pic>
    </p:spTree>
    <p:extLst>
      <p:ext uri="{BB962C8B-B14F-4D97-AF65-F5344CB8AC3E}">
        <p14:creationId xmlns:p14="http://schemas.microsoft.com/office/powerpoint/2010/main" val="4033994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82BC08-45AB-A567-F0BF-BDD04FCC8477}"/>
              </a:ext>
            </a:extLst>
          </p:cNvPr>
          <p:cNvSpPr txBox="1"/>
          <p:nvPr/>
        </p:nvSpPr>
        <p:spPr>
          <a:xfrm>
            <a:off x="335560" y="285226"/>
            <a:ext cx="1810111" cy="523220"/>
          </a:xfrm>
          <a:prstGeom prst="rect">
            <a:avLst/>
          </a:prstGeom>
          <a:noFill/>
        </p:spPr>
        <p:txBody>
          <a:bodyPr wrap="none" rtlCol="0">
            <a:spAutoFit/>
          </a:bodyPr>
          <a:lstStyle/>
          <a:p>
            <a:r>
              <a:rPr lang="en-IN" sz="2800" dirty="0">
                <a:solidFill>
                  <a:schemeClr val="accent1">
                    <a:lumMod val="60000"/>
                    <a:lumOff val="40000"/>
                  </a:schemeClr>
                </a:solidFill>
              </a:rPr>
              <a:t>Dashboard</a:t>
            </a:r>
          </a:p>
        </p:txBody>
      </p:sp>
      <p:pic>
        <p:nvPicPr>
          <p:cNvPr id="7" name="Picture 6">
            <a:extLst>
              <a:ext uri="{FF2B5EF4-FFF2-40B4-BE49-F238E27FC236}">
                <a16:creationId xmlns:a16="http://schemas.microsoft.com/office/drawing/2014/main" id="{03D40075-18E7-841B-F367-7F36B2FCB1FC}"/>
              </a:ext>
            </a:extLst>
          </p:cNvPr>
          <p:cNvPicPr>
            <a:picLocks noChangeAspect="1"/>
          </p:cNvPicPr>
          <p:nvPr/>
        </p:nvPicPr>
        <p:blipFill>
          <a:blip r:embed="rId2"/>
          <a:stretch>
            <a:fillRect/>
          </a:stretch>
        </p:blipFill>
        <p:spPr>
          <a:xfrm>
            <a:off x="0" y="746620"/>
            <a:ext cx="12191999" cy="6111379"/>
          </a:xfrm>
          <a:prstGeom prst="rect">
            <a:avLst/>
          </a:prstGeom>
        </p:spPr>
      </p:pic>
    </p:spTree>
    <p:extLst>
      <p:ext uri="{BB962C8B-B14F-4D97-AF65-F5344CB8AC3E}">
        <p14:creationId xmlns:p14="http://schemas.microsoft.com/office/powerpoint/2010/main" val="1059707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D34E99-B3E0-DD69-097F-DD4D2D979854}"/>
              </a:ext>
            </a:extLst>
          </p:cNvPr>
          <p:cNvPicPr>
            <a:picLocks noChangeAspect="1"/>
          </p:cNvPicPr>
          <p:nvPr/>
        </p:nvPicPr>
        <p:blipFill>
          <a:blip r:embed="rId2"/>
          <a:srcRect/>
          <a:stretch/>
        </p:blipFill>
        <p:spPr>
          <a:xfrm>
            <a:off x="0" y="1380788"/>
            <a:ext cx="12192000" cy="5459767"/>
          </a:xfrm>
          <a:prstGeom prst="rect">
            <a:avLst/>
          </a:prstGeom>
        </p:spPr>
      </p:pic>
      <p:sp>
        <p:nvSpPr>
          <p:cNvPr id="2" name="Rectangle 1">
            <a:extLst>
              <a:ext uri="{FF2B5EF4-FFF2-40B4-BE49-F238E27FC236}">
                <a16:creationId xmlns:a16="http://schemas.microsoft.com/office/drawing/2014/main" id="{989B4207-2D27-60E7-35C5-AE8F7597683C}"/>
              </a:ext>
            </a:extLst>
          </p:cNvPr>
          <p:cNvSpPr/>
          <p:nvPr/>
        </p:nvSpPr>
        <p:spPr>
          <a:xfrm>
            <a:off x="570890" y="602958"/>
            <a:ext cx="3079689" cy="769441"/>
          </a:xfrm>
          <a:prstGeom prst="rect">
            <a:avLst/>
          </a:prstGeom>
          <a:noFill/>
        </p:spPr>
        <p:txBody>
          <a:bodyPr wrap="none" lIns="91440" tIns="45720" rIns="91440" bIns="45720">
            <a:spAutoFit/>
          </a:bodyPr>
          <a:lstStyle/>
          <a:p>
            <a:pPr algn="ctr"/>
            <a:r>
              <a:rPr lang="en-US" sz="4400" b="0" cap="none" spc="0" dirty="0">
                <a:ln w="0"/>
                <a:solidFill>
                  <a:schemeClr val="accent1"/>
                </a:solidFill>
                <a:effectLst>
                  <a:outerShdw blurRad="38100" dist="25400" dir="5400000" algn="ctr" rotWithShape="0">
                    <a:srgbClr val="6E747A">
                      <a:alpha val="43000"/>
                    </a:srgbClr>
                  </a:outerShdw>
                </a:effectLst>
              </a:rPr>
              <a:t>Admin Login</a:t>
            </a:r>
          </a:p>
        </p:txBody>
      </p:sp>
    </p:spTree>
    <p:extLst>
      <p:ext uri="{BB962C8B-B14F-4D97-AF65-F5344CB8AC3E}">
        <p14:creationId xmlns:p14="http://schemas.microsoft.com/office/powerpoint/2010/main" val="2415685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FE1B69-E98A-418A-3DB0-5ECF3A76E1E5}"/>
              </a:ext>
            </a:extLst>
          </p:cNvPr>
          <p:cNvPicPr>
            <a:picLocks noChangeAspect="1"/>
          </p:cNvPicPr>
          <p:nvPr/>
        </p:nvPicPr>
        <p:blipFill>
          <a:blip r:embed="rId2"/>
          <a:stretch>
            <a:fillRect/>
          </a:stretch>
        </p:blipFill>
        <p:spPr>
          <a:xfrm>
            <a:off x="0" y="771786"/>
            <a:ext cx="12192000" cy="6086213"/>
          </a:xfrm>
          <a:prstGeom prst="rect">
            <a:avLst/>
          </a:prstGeom>
        </p:spPr>
      </p:pic>
      <p:sp>
        <p:nvSpPr>
          <p:cNvPr id="5" name="TextBox 4">
            <a:extLst>
              <a:ext uri="{FF2B5EF4-FFF2-40B4-BE49-F238E27FC236}">
                <a16:creationId xmlns:a16="http://schemas.microsoft.com/office/drawing/2014/main" id="{2A567A71-28B1-7845-CBD8-F8F80D278014}"/>
              </a:ext>
            </a:extLst>
          </p:cNvPr>
          <p:cNvSpPr txBox="1"/>
          <p:nvPr/>
        </p:nvSpPr>
        <p:spPr>
          <a:xfrm>
            <a:off x="444616" y="184558"/>
            <a:ext cx="2488182" cy="461665"/>
          </a:xfrm>
          <a:prstGeom prst="rect">
            <a:avLst/>
          </a:prstGeom>
          <a:noFill/>
        </p:spPr>
        <p:txBody>
          <a:bodyPr wrap="none" rtlCol="0">
            <a:spAutoFit/>
          </a:bodyPr>
          <a:lstStyle/>
          <a:p>
            <a:r>
              <a:rPr lang="en-IN" sz="2400" dirty="0">
                <a:solidFill>
                  <a:schemeClr val="accent1">
                    <a:lumMod val="60000"/>
                    <a:lumOff val="40000"/>
                  </a:schemeClr>
                </a:solidFill>
              </a:rPr>
              <a:t>Admin Dashboard</a:t>
            </a:r>
          </a:p>
        </p:txBody>
      </p:sp>
    </p:spTree>
    <p:extLst>
      <p:ext uri="{BB962C8B-B14F-4D97-AF65-F5344CB8AC3E}">
        <p14:creationId xmlns:p14="http://schemas.microsoft.com/office/powerpoint/2010/main" val="1010841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A3F463-396F-F868-7045-BAF2B2974B3A}"/>
              </a:ext>
            </a:extLst>
          </p:cNvPr>
          <p:cNvPicPr>
            <a:picLocks noChangeAspect="1"/>
          </p:cNvPicPr>
          <p:nvPr/>
        </p:nvPicPr>
        <p:blipFill>
          <a:blip r:embed="rId2"/>
          <a:stretch>
            <a:fillRect/>
          </a:stretch>
        </p:blipFill>
        <p:spPr>
          <a:xfrm>
            <a:off x="0" y="897622"/>
            <a:ext cx="12192000" cy="5960378"/>
          </a:xfrm>
          <a:prstGeom prst="rect">
            <a:avLst/>
          </a:prstGeom>
        </p:spPr>
      </p:pic>
      <p:sp>
        <p:nvSpPr>
          <p:cNvPr id="5" name="TextBox 4">
            <a:extLst>
              <a:ext uri="{FF2B5EF4-FFF2-40B4-BE49-F238E27FC236}">
                <a16:creationId xmlns:a16="http://schemas.microsoft.com/office/drawing/2014/main" id="{43B27313-20EF-9B9C-53F0-0798660D0B54}"/>
              </a:ext>
            </a:extLst>
          </p:cNvPr>
          <p:cNvSpPr txBox="1"/>
          <p:nvPr/>
        </p:nvSpPr>
        <p:spPr>
          <a:xfrm>
            <a:off x="620785" y="343949"/>
            <a:ext cx="2776016" cy="461665"/>
          </a:xfrm>
          <a:prstGeom prst="rect">
            <a:avLst/>
          </a:prstGeom>
          <a:noFill/>
        </p:spPr>
        <p:txBody>
          <a:bodyPr wrap="none" rtlCol="0">
            <a:spAutoFit/>
          </a:bodyPr>
          <a:lstStyle/>
          <a:p>
            <a:r>
              <a:rPr lang="en-IN" sz="2400" dirty="0">
                <a:solidFill>
                  <a:schemeClr val="accent1">
                    <a:lumMod val="60000"/>
                    <a:lumOff val="40000"/>
                  </a:schemeClr>
                </a:solidFill>
              </a:rPr>
              <a:t>Add Flight by Admin</a:t>
            </a:r>
          </a:p>
        </p:txBody>
      </p:sp>
    </p:spTree>
    <p:extLst>
      <p:ext uri="{BB962C8B-B14F-4D97-AF65-F5344CB8AC3E}">
        <p14:creationId xmlns:p14="http://schemas.microsoft.com/office/powerpoint/2010/main" val="4141522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81E766-3963-E6D3-C567-24063DC65FAC}"/>
              </a:ext>
            </a:extLst>
          </p:cNvPr>
          <p:cNvPicPr>
            <a:picLocks noChangeAspect="1"/>
          </p:cNvPicPr>
          <p:nvPr/>
        </p:nvPicPr>
        <p:blipFill>
          <a:blip r:embed="rId2"/>
          <a:stretch>
            <a:fillRect/>
          </a:stretch>
        </p:blipFill>
        <p:spPr>
          <a:xfrm>
            <a:off x="0" y="897622"/>
            <a:ext cx="12192000" cy="5960378"/>
          </a:xfrm>
          <a:prstGeom prst="rect">
            <a:avLst/>
          </a:prstGeom>
        </p:spPr>
      </p:pic>
      <p:sp>
        <p:nvSpPr>
          <p:cNvPr id="7" name="TextBox 6">
            <a:extLst>
              <a:ext uri="{FF2B5EF4-FFF2-40B4-BE49-F238E27FC236}">
                <a16:creationId xmlns:a16="http://schemas.microsoft.com/office/drawing/2014/main" id="{61521492-EF52-840B-CCF9-E64400DD65C7}"/>
              </a:ext>
            </a:extLst>
          </p:cNvPr>
          <p:cNvSpPr txBox="1"/>
          <p:nvPr/>
        </p:nvSpPr>
        <p:spPr>
          <a:xfrm>
            <a:off x="402671" y="218114"/>
            <a:ext cx="1653017" cy="523220"/>
          </a:xfrm>
          <a:prstGeom prst="rect">
            <a:avLst/>
          </a:prstGeom>
          <a:noFill/>
        </p:spPr>
        <p:txBody>
          <a:bodyPr wrap="none" rtlCol="0">
            <a:spAutoFit/>
          </a:bodyPr>
          <a:lstStyle/>
          <a:p>
            <a:r>
              <a:rPr lang="en-IN" sz="2800" dirty="0">
                <a:solidFill>
                  <a:schemeClr val="accent1">
                    <a:lumMod val="60000"/>
                    <a:lumOff val="40000"/>
                  </a:schemeClr>
                </a:solidFill>
              </a:rPr>
              <a:t>List Flight</a:t>
            </a:r>
          </a:p>
        </p:txBody>
      </p:sp>
    </p:spTree>
    <p:extLst>
      <p:ext uri="{BB962C8B-B14F-4D97-AF65-F5344CB8AC3E}">
        <p14:creationId xmlns:p14="http://schemas.microsoft.com/office/powerpoint/2010/main" val="236768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2351C5-D929-06B3-3D56-3103F06E6651}"/>
              </a:ext>
            </a:extLst>
          </p:cNvPr>
          <p:cNvSpPr/>
          <p:nvPr/>
        </p:nvSpPr>
        <p:spPr>
          <a:xfrm>
            <a:off x="0" y="168310"/>
            <a:ext cx="3965965" cy="646331"/>
          </a:xfrm>
          <a:prstGeom prst="rect">
            <a:avLst/>
          </a:prstGeom>
          <a:noFill/>
        </p:spPr>
        <p:txBody>
          <a:bodyPr wrap="square" lIns="91440" tIns="45720" rIns="91440" bIns="45720">
            <a:spAutoFit/>
          </a:bodyPr>
          <a:lstStyle/>
          <a:p>
            <a:pPr algn="ctr"/>
            <a:r>
              <a:rPr lang="en-US" sz="3600" dirty="0">
                <a:ln w="0"/>
                <a:solidFill>
                  <a:schemeClr val="accent1"/>
                </a:solidFill>
                <a:effectLst>
                  <a:outerShdw blurRad="38100" dist="25400" dir="5400000" algn="ctr" rotWithShape="0">
                    <a:srgbClr val="6E747A">
                      <a:alpha val="43000"/>
                    </a:srgbClr>
                  </a:outerShdw>
                </a:effectLst>
              </a:rPr>
              <a:t>Manage Airlines</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pic>
        <p:nvPicPr>
          <p:cNvPr id="5" name="Picture 4">
            <a:extLst>
              <a:ext uri="{FF2B5EF4-FFF2-40B4-BE49-F238E27FC236}">
                <a16:creationId xmlns:a16="http://schemas.microsoft.com/office/drawing/2014/main" id="{F98FDDF3-7A9B-92CB-0659-8185BB24795C}"/>
              </a:ext>
            </a:extLst>
          </p:cNvPr>
          <p:cNvPicPr>
            <a:picLocks noChangeAspect="1"/>
          </p:cNvPicPr>
          <p:nvPr/>
        </p:nvPicPr>
        <p:blipFill>
          <a:blip r:embed="rId2"/>
          <a:stretch>
            <a:fillRect/>
          </a:stretch>
        </p:blipFill>
        <p:spPr>
          <a:xfrm>
            <a:off x="0" y="906011"/>
            <a:ext cx="12192000" cy="5951989"/>
          </a:xfrm>
          <a:prstGeom prst="rect">
            <a:avLst/>
          </a:prstGeom>
        </p:spPr>
      </p:pic>
    </p:spTree>
    <p:extLst>
      <p:ext uri="{BB962C8B-B14F-4D97-AF65-F5344CB8AC3E}">
        <p14:creationId xmlns:p14="http://schemas.microsoft.com/office/powerpoint/2010/main" val="2056160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AF3244-02D9-72D5-EB5E-5094DBB71CA5}"/>
              </a:ext>
            </a:extLst>
          </p:cNvPr>
          <p:cNvPicPr>
            <a:picLocks noChangeAspect="1"/>
          </p:cNvPicPr>
          <p:nvPr/>
        </p:nvPicPr>
        <p:blipFill>
          <a:blip r:embed="rId2"/>
          <a:stretch>
            <a:fillRect/>
          </a:stretch>
        </p:blipFill>
        <p:spPr>
          <a:xfrm>
            <a:off x="0" y="788565"/>
            <a:ext cx="12192000" cy="6069435"/>
          </a:xfrm>
          <a:prstGeom prst="rect">
            <a:avLst/>
          </a:prstGeom>
        </p:spPr>
      </p:pic>
      <p:sp>
        <p:nvSpPr>
          <p:cNvPr id="5" name="TextBox 4">
            <a:extLst>
              <a:ext uri="{FF2B5EF4-FFF2-40B4-BE49-F238E27FC236}">
                <a16:creationId xmlns:a16="http://schemas.microsoft.com/office/drawing/2014/main" id="{9F030C64-2C21-A46B-1639-333EE8419E02}"/>
              </a:ext>
            </a:extLst>
          </p:cNvPr>
          <p:cNvSpPr txBox="1"/>
          <p:nvPr/>
        </p:nvSpPr>
        <p:spPr>
          <a:xfrm>
            <a:off x="285225" y="243282"/>
            <a:ext cx="1720920" cy="461665"/>
          </a:xfrm>
          <a:prstGeom prst="rect">
            <a:avLst/>
          </a:prstGeom>
          <a:noFill/>
        </p:spPr>
        <p:txBody>
          <a:bodyPr wrap="none" rtlCol="0">
            <a:spAutoFit/>
          </a:bodyPr>
          <a:lstStyle/>
          <a:p>
            <a:r>
              <a:rPr lang="en-IN" sz="2400" dirty="0">
                <a:solidFill>
                  <a:schemeClr val="accent1">
                    <a:lumMod val="60000"/>
                    <a:lumOff val="40000"/>
                  </a:schemeClr>
                </a:solidFill>
              </a:rPr>
              <a:t>Bulk Upload</a:t>
            </a:r>
          </a:p>
        </p:txBody>
      </p:sp>
    </p:spTree>
    <p:extLst>
      <p:ext uri="{BB962C8B-B14F-4D97-AF65-F5344CB8AC3E}">
        <p14:creationId xmlns:p14="http://schemas.microsoft.com/office/powerpoint/2010/main" val="3608626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4820C6-B131-81F8-D93E-30A1303B15B5}"/>
              </a:ext>
            </a:extLst>
          </p:cNvPr>
          <p:cNvSpPr/>
          <p:nvPr/>
        </p:nvSpPr>
        <p:spPr>
          <a:xfrm>
            <a:off x="2583810" y="2967335"/>
            <a:ext cx="6652469" cy="923330"/>
          </a:xfrm>
          <a:prstGeom prst="rect">
            <a:avLst/>
          </a:prstGeom>
          <a:noFill/>
        </p:spPr>
        <p:txBody>
          <a:bodyPr wrap="squar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42190997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Banded</Template>
  <TotalTime>1717</TotalTime>
  <Words>715</Words>
  <Application>Microsoft Office PowerPoint</Application>
  <PresentationFormat>Widescreen</PresentationFormat>
  <Paragraphs>76</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Corbel</vt:lpstr>
      <vt:lpstr>Wingdings</vt:lpstr>
      <vt:lpstr>Banded</vt:lpstr>
      <vt:lpstr>Airline Reservation Management System </vt:lpstr>
      <vt:lpstr>proJECT  PROFILE</vt:lpstr>
      <vt:lpstr>Introduction</vt:lpstr>
      <vt:lpstr>PURPOSE</vt:lpstr>
      <vt:lpstr>Core Components</vt:lpstr>
      <vt:lpstr>Data dictionary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Screenshots of our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dc:title>
  <dc:creator>Aayush Shah</dc:creator>
  <cp:lastModifiedBy>Aayush Shah</cp:lastModifiedBy>
  <cp:revision>71</cp:revision>
  <dcterms:created xsi:type="dcterms:W3CDTF">2022-08-03T12:05:32Z</dcterms:created>
  <dcterms:modified xsi:type="dcterms:W3CDTF">2025-05-01T10:20:40Z</dcterms:modified>
</cp:coreProperties>
</file>